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6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u="none" dirty="0" err="1"/>
              <a:t>Főbb</a:t>
            </a:r>
            <a:r>
              <a:rPr lang="en-US" sz="2800" b="1" u="none" dirty="0"/>
              <a:t> </a:t>
            </a:r>
            <a:r>
              <a:rPr lang="en-US" sz="2800" b="1" u="none" dirty="0" err="1"/>
              <a:t>költségek</a:t>
            </a:r>
            <a:endParaRPr lang="en-US" sz="2800" b="1" u="non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Főbb költségek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2C-4CF2-9E01-99FEF341FA7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2C-4CF2-9E01-99FEF341FA7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2C-4CF2-9E01-99FEF341FA7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B2C-4CF2-9E01-99FEF341FA7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Munka1!$A$2:$A$5</c:f>
              <c:strCache>
                <c:ptCount val="4"/>
                <c:pt idx="0">
                  <c:v>Technológiai fejlesztések</c:v>
                </c:pt>
                <c:pt idx="1">
                  <c:v>Marketing és felhasználói akvíció</c:v>
                </c:pt>
                <c:pt idx="2">
                  <c:v>Infrakstruktúra és üzemeltetés</c:v>
                </c:pt>
                <c:pt idx="3">
                  <c:v>Csapatbővítés és oktatás</c:v>
                </c:pt>
              </c:strCache>
            </c:strRef>
          </c:cat>
          <c:val>
            <c:numRef>
              <c:f>Munka1!$B$2:$B$5</c:f>
              <c:numCache>
                <c:formatCode>0%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0F-4E78-9E73-5EFBB9B3AD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bg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Felhasználói</a:t>
                    </a:r>
                    <a:r>
                      <a:rPr lang="en-US" baseline="0"/>
                      <a:t> előfizetések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56862745098038"/>
                      <c:h val="9.72679245283018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B729-4640-81F0-705C27250A2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hu-HU" sz="1197" b="1" i="0" u="none" strike="noStrike" baseline="0" dirty="0">
                        <a:effectLst/>
                      </a:rPr>
                      <a:t>Prémium funkciók növekvő népszerűsége</a:t>
                    </a:r>
                    <a:endParaRPr lang="hu-HU" b="1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257359374195873"/>
                      <c:h val="0.14137358490566038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B729-4640-81F0-705C27250A2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97" b="1" i="0" u="none" strike="noStrike" baseline="0" dirty="0" err="1">
                        <a:effectLst/>
                      </a:rPr>
                      <a:t>Nemzetközi</a:t>
                    </a:r>
                    <a:r>
                      <a:rPr lang="en-US" sz="1197" b="1" i="0" u="none" strike="noStrike" baseline="0" dirty="0">
                        <a:effectLst/>
                      </a:rPr>
                      <a:t> </a:t>
                    </a:r>
                    <a:r>
                      <a:rPr lang="en-US" sz="1197" b="1" i="0" u="none" strike="noStrike" baseline="0" dirty="0" err="1">
                        <a:effectLst/>
                      </a:rPr>
                      <a:t>terjeszkedés</a:t>
                    </a:r>
                    <a:endParaRPr lang="en-US" b="1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34143893777983"/>
                      <c:h val="9.72679245283018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B729-4640-81F0-705C27250A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Munka1!$A$2:$A$4</c:f>
              <c:strCache>
                <c:ptCount val="3"/>
                <c:pt idx="0">
                  <c:v>Első év</c:v>
                </c:pt>
                <c:pt idx="1">
                  <c:v>Második év</c:v>
                </c:pt>
                <c:pt idx="2">
                  <c:v>Harmadik év</c:v>
                </c:pt>
              </c:strCache>
            </c:strRef>
          </c:cat>
          <c:val>
            <c:numRef>
              <c:f>Munka1!$B$2:$B$4</c:f>
              <c:numCache>
                <c:formatCode>General</c:formatCode>
                <c:ptCount val="3"/>
                <c:pt idx="0">
                  <c:v>500000</c:v>
                </c:pt>
                <c:pt idx="1">
                  <c:v>1500000</c:v>
                </c:pt>
                <c:pt idx="2">
                  <c:v>3000000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29-4640-81F0-705C27250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1739343"/>
        <c:axId val="781736463"/>
      </c:barChart>
      <c:catAx>
        <c:axId val="78173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781736463"/>
        <c:crosses val="autoZero"/>
        <c:auto val="1"/>
        <c:lblAlgn val="ctr"/>
        <c:lblOffset val="100"/>
        <c:noMultiLvlLbl val="0"/>
      </c:catAx>
      <c:valAx>
        <c:axId val="781736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781739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7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70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3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1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2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1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2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46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/>
              <a:t>Parkeasy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AI-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Valós</a:t>
            </a:r>
            <a:r>
              <a:rPr dirty="0"/>
              <a:t> </a:t>
            </a:r>
            <a:r>
              <a:rPr dirty="0" err="1"/>
              <a:t>Idejű</a:t>
            </a:r>
            <a:r>
              <a:rPr dirty="0"/>
              <a:t> </a:t>
            </a:r>
            <a:r>
              <a:rPr lang="hu-HU" dirty="0"/>
              <a:t>Okos </a:t>
            </a:r>
            <a:r>
              <a:rPr dirty="0" err="1"/>
              <a:t>Parkolóhely-Kereső</a:t>
            </a:r>
            <a:r>
              <a:rPr dirty="0"/>
              <a:t> </a:t>
            </a:r>
            <a:r>
              <a:rPr dirty="0" err="1"/>
              <a:t>Alkalmazás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Bemutatkozás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4250" y="3225558"/>
            <a:ext cx="4787545" cy="2381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400" b="1" dirty="0" err="1"/>
              <a:t>ParkEasy</a:t>
            </a:r>
            <a:endParaRPr lang="hu-HU" sz="4400" b="1" dirty="0"/>
          </a:p>
          <a:p>
            <a:pPr lvl="1"/>
            <a:r>
              <a:rPr b="1" dirty="0" err="1"/>
              <a:t>Probléma</a:t>
            </a:r>
            <a:r>
              <a:rPr b="1" dirty="0"/>
              <a:t>:</a:t>
            </a:r>
            <a:r>
              <a:rPr dirty="0"/>
              <a:t> </a:t>
            </a:r>
            <a:endParaRPr lang="en-US" dirty="0"/>
          </a:p>
          <a:p>
            <a:pPr lvl="2"/>
            <a:r>
              <a:rPr dirty="0"/>
              <a:t>A </a:t>
            </a:r>
            <a:r>
              <a:rPr dirty="0" err="1"/>
              <a:t>városi</a:t>
            </a:r>
            <a:r>
              <a:rPr dirty="0"/>
              <a:t> </a:t>
            </a:r>
            <a:r>
              <a:rPr dirty="0" err="1"/>
              <a:t>parkolás</a:t>
            </a:r>
            <a:r>
              <a:rPr dirty="0"/>
              <a:t> </a:t>
            </a:r>
            <a:r>
              <a:rPr dirty="0" err="1"/>
              <a:t>időigényes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frusztráló</a:t>
            </a:r>
            <a:endParaRPr dirty="0"/>
          </a:p>
          <a:p>
            <a:pPr lvl="1"/>
            <a:r>
              <a:rPr b="1" dirty="0" err="1"/>
              <a:t>Megoldás</a:t>
            </a:r>
            <a:r>
              <a:rPr b="1" dirty="0"/>
              <a:t>: </a:t>
            </a:r>
            <a:endParaRPr lang="hu-HU" b="1" dirty="0"/>
          </a:p>
          <a:p>
            <a:pPr lvl="2"/>
            <a:r>
              <a:rPr dirty="0" err="1"/>
              <a:t>csökkenti</a:t>
            </a:r>
            <a:r>
              <a:rPr dirty="0"/>
              <a:t> a </a:t>
            </a:r>
            <a:r>
              <a:rPr dirty="0" err="1"/>
              <a:t>keresési</a:t>
            </a:r>
            <a:r>
              <a:rPr dirty="0"/>
              <a:t> </a:t>
            </a:r>
            <a:r>
              <a:rPr dirty="0" err="1"/>
              <a:t>időt</a:t>
            </a:r>
            <a:r>
              <a:rPr dirty="0"/>
              <a:t> </a:t>
            </a:r>
            <a:endParaRPr lang="hu-HU" dirty="0"/>
          </a:p>
          <a:p>
            <a:pPr lvl="2"/>
            <a:r>
              <a:rPr dirty="0" err="1"/>
              <a:t>javítja</a:t>
            </a:r>
            <a:r>
              <a:rPr dirty="0"/>
              <a:t> a </a:t>
            </a:r>
            <a:r>
              <a:rPr dirty="0" err="1"/>
              <a:t>közlekedési</a:t>
            </a:r>
            <a:r>
              <a:rPr dirty="0"/>
              <a:t> </a:t>
            </a:r>
            <a:r>
              <a:rPr dirty="0" err="1"/>
              <a:t>hatékonyságot</a:t>
            </a:r>
            <a:endParaRPr dirty="0"/>
          </a:p>
        </p:txBody>
      </p:sp>
      <p:pic>
        <p:nvPicPr>
          <p:cNvPr id="7170" name="Picture 2" descr="智能停车位查找软件">
            <a:extLst>
              <a:ext uri="{FF2B5EF4-FFF2-40B4-BE49-F238E27FC236}">
                <a16:creationId xmlns:a16="http://schemas.microsoft.com/office/drawing/2014/main" id="{05ABEA45-D0DC-620F-8262-9957140A6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97" y="2456144"/>
            <a:ext cx="3919953" cy="391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Piaci</a:t>
            </a:r>
            <a:r>
              <a:rPr b="1" dirty="0"/>
              <a:t> </a:t>
            </a:r>
            <a:r>
              <a:rPr b="1" dirty="0" err="1"/>
              <a:t>Probléma</a:t>
            </a:r>
            <a:r>
              <a:rPr b="1" dirty="0"/>
              <a:t> </a:t>
            </a:r>
            <a:r>
              <a:rPr b="1" dirty="0" err="1"/>
              <a:t>és</a:t>
            </a:r>
            <a:r>
              <a:rPr b="1" dirty="0"/>
              <a:t> </a:t>
            </a:r>
            <a:r>
              <a:rPr b="1" dirty="0" err="1"/>
              <a:t>Megoldás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5306" y="2494196"/>
            <a:ext cx="4928694" cy="3560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 err="1"/>
              <a:t>Probléma</a:t>
            </a:r>
            <a:r>
              <a:rPr b="1" dirty="0"/>
              <a:t>:</a:t>
            </a:r>
          </a:p>
          <a:p>
            <a:pPr lvl="1"/>
            <a:r>
              <a:rPr dirty="0"/>
              <a:t>Az </a:t>
            </a:r>
            <a:r>
              <a:rPr dirty="0" err="1"/>
              <a:t>autósok</a:t>
            </a:r>
            <a:r>
              <a:rPr dirty="0"/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dirty="0"/>
              <a:t>%-a </a:t>
            </a:r>
            <a:r>
              <a:rPr dirty="0" err="1"/>
              <a:t>a</a:t>
            </a:r>
            <a:r>
              <a:rPr dirty="0"/>
              <a:t> </a:t>
            </a:r>
            <a:r>
              <a:rPr dirty="0" err="1"/>
              <a:t>parkolóhely</a:t>
            </a:r>
            <a:r>
              <a:rPr dirty="0"/>
              <a:t> </a:t>
            </a:r>
            <a:r>
              <a:rPr dirty="0" err="1"/>
              <a:t>keresése</a:t>
            </a:r>
            <a:r>
              <a:rPr dirty="0"/>
              <a:t> </a:t>
            </a:r>
            <a:r>
              <a:rPr dirty="0" err="1"/>
              <a:t>közben</a:t>
            </a:r>
            <a:r>
              <a:rPr dirty="0"/>
              <a:t> </a:t>
            </a:r>
            <a:r>
              <a:rPr dirty="0" err="1"/>
              <a:t>okoz</a:t>
            </a:r>
            <a:r>
              <a:rPr dirty="0"/>
              <a:t> </a:t>
            </a:r>
            <a:r>
              <a:rPr dirty="0" err="1"/>
              <a:t>forgalmi</a:t>
            </a:r>
            <a:r>
              <a:rPr dirty="0"/>
              <a:t> </a:t>
            </a:r>
            <a:r>
              <a:rPr dirty="0" err="1"/>
              <a:t>dugókat</a:t>
            </a:r>
            <a:r>
              <a:rPr dirty="0"/>
              <a:t>.</a:t>
            </a:r>
          </a:p>
          <a:p>
            <a:pPr lvl="1"/>
            <a:r>
              <a:rPr dirty="0" err="1"/>
              <a:t>Éves</a:t>
            </a:r>
            <a:r>
              <a:rPr dirty="0"/>
              <a:t> </a:t>
            </a:r>
            <a:r>
              <a:rPr dirty="0" err="1"/>
              <a:t>szinten</a:t>
            </a:r>
            <a:r>
              <a:rPr dirty="0"/>
              <a:t> </a:t>
            </a:r>
            <a:r>
              <a:rPr dirty="0" err="1"/>
              <a:t>több</a:t>
            </a:r>
            <a:r>
              <a:rPr dirty="0"/>
              <a:t> </a:t>
            </a:r>
            <a:r>
              <a:rPr dirty="0" err="1"/>
              <a:t>millió</a:t>
            </a:r>
            <a:r>
              <a:rPr dirty="0"/>
              <a:t> </a:t>
            </a:r>
            <a:r>
              <a:rPr dirty="0" err="1"/>
              <a:t>tonna</a:t>
            </a:r>
            <a:r>
              <a:rPr dirty="0"/>
              <a:t> CO₂ </a:t>
            </a:r>
            <a:r>
              <a:rPr dirty="0" err="1"/>
              <a:t>kibocsátásért</a:t>
            </a:r>
            <a:r>
              <a:rPr dirty="0"/>
              <a:t> </a:t>
            </a:r>
            <a:r>
              <a:rPr dirty="0" err="1"/>
              <a:t>felelős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b="1" dirty="0" err="1"/>
              <a:t>Megoldás</a:t>
            </a:r>
            <a:r>
              <a:rPr b="1" dirty="0"/>
              <a:t>:</a:t>
            </a:r>
          </a:p>
          <a:p>
            <a:pPr lvl="1"/>
            <a:r>
              <a:rPr lang="hu-HU" dirty="0"/>
              <a:t>V</a:t>
            </a:r>
            <a:r>
              <a:rPr dirty="0" err="1"/>
              <a:t>alós</a:t>
            </a:r>
            <a:r>
              <a:rPr dirty="0"/>
              <a:t> </a:t>
            </a:r>
            <a:r>
              <a:rPr dirty="0" err="1"/>
              <a:t>idejű</a:t>
            </a:r>
            <a:r>
              <a:rPr dirty="0"/>
              <a:t> </a:t>
            </a:r>
            <a:r>
              <a:rPr dirty="0" err="1"/>
              <a:t>szenzoradatok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forgalomelemzés</a:t>
            </a:r>
            <a:r>
              <a:rPr dirty="0"/>
              <a:t> </a:t>
            </a:r>
            <a:r>
              <a:rPr dirty="0" err="1"/>
              <a:t>használ</a:t>
            </a:r>
            <a:r>
              <a:rPr lang="hu-HU" dirty="0" err="1"/>
              <a:t>ata</a:t>
            </a:r>
            <a:r>
              <a:rPr dirty="0"/>
              <a:t>.</a:t>
            </a:r>
          </a:p>
          <a:p>
            <a:pPr lvl="1"/>
            <a:r>
              <a:rPr dirty="0" err="1"/>
              <a:t>Optimalizált</a:t>
            </a:r>
            <a:r>
              <a:rPr dirty="0"/>
              <a:t> </a:t>
            </a:r>
            <a:r>
              <a:rPr dirty="0" err="1"/>
              <a:t>útvonalat</a:t>
            </a:r>
            <a:r>
              <a:rPr dirty="0"/>
              <a:t> </a:t>
            </a:r>
            <a:r>
              <a:rPr dirty="0" err="1"/>
              <a:t>javasol</a:t>
            </a:r>
            <a:r>
              <a:rPr dirty="0"/>
              <a:t> a </a:t>
            </a:r>
            <a:r>
              <a:rPr dirty="0" err="1"/>
              <a:t>legközelebbi</a:t>
            </a:r>
            <a:r>
              <a:rPr dirty="0"/>
              <a:t> </a:t>
            </a:r>
            <a:r>
              <a:rPr dirty="0" err="1"/>
              <a:t>szabad</a:t>
            </a:r>
            <a:r>
              <a:rPr dirty="0"/>
              <a:t> </a:t>
            </a:r>
            <a:r>
              <a:rPr dirty="0" err="1"/>
              <a:t>helyhez</a:t>
            </a:r>
            <a:r>
              <a:rPr dirty="0"/>
              <a:t>.</a:t>
            </a:r>
          </a:p>
        </p:txBody>
      </p:sp>
      <p:pic>
        <p:nvPicPr>
          <p:cNvPr id="4098" name="Picture 2" descr="Hungarian app helps finding parking spots in Budapest - Daily News Hungary">
            <a:extLst>
              <a:ext uri="{FF2B5EF4-FFF2-40B4-BE49-F238E27FC236}">
                <a16:creationId xmlns:a16="http://schemas.microsoft.com/office/drawing/2014/main" id="{26E6FD47-F672-329B-F662-22E76ADA8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80" y="2470875"/>
            <a:ext cx="3619244" cy="361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Piaci</a:t>
            </a:r>
            <a:r>
              <a:rPr b="1" dirty="0"/>
              <a:t> </a:t>
            </a:r>
            <a:r>
              <a:rPr b="1" dirty="0" err="1"/>
              <a:t>Lehetőség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78" y="2890486"/>
            <a:ext cx="4359322" cy="2964129"/>
          </a:xfrm>
        </p:spPr>
        <p:txBody>
          <a:bodyPr/>
          <a:lstStyle/>
          <a:p>
            <a:r>
              <a:rPr b="1" dirty="0" err="1"/>
              <a:t>Célpiac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Városi</a:t>
            </a:r>
            <a:r>
              <a:rPr dirty="0"/>
              <a:t> </a:t>
            </a:r>
            <a:r>
              <a:rPr dirty="0" err="1"/>
              <a:t>autósok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önkormányzatok</a:t>
            </a:r>
            <a:r>
              <a:rPr dirty="0"/>
              <a:t>.</a:t>
            </a:r>
          </a:p>
          <a:p>
            <a:r>
              <a:rPr b="1" dirty="0" err="1"/>
              <a:t>Piacméret</a:t>
            </a:r>
            <a:r>
              <a:rPr b="1" dirty="0"/>
              <a:t>:</a:t>
            </a:r>
            <a:r>
              <a:rPr dirty="0"/>
              <a:t> A </a:t>
            </a:r>
            <a:r>
              <a:rPr dirty="0" err="1"/>
              <a:t>globális</a:t>
            </a:r>
            <a:r>
              <a:rPr dirty="0"/>
              <a:t> </a:t>
            </a:r>
            <a:r>
              <a:rPr dirty="0" err="1"/>
              <a:t>okos</a:t>
            </a:r>
            <a:r>
              <a:rPr dirty="0"/>
              <a:t> </a:t>
            </a:r>
            <a:r>
              <a:rPr dirty="0" err="1"/>
              <a:t>város</a:t>
            </a:r>
            <a:r>
              <a:rPr dirty="0"/>
              <a:t> </a:t>
            </a:r>
            <a:r>
              <a:rPr dirty="0" err="1"/>
              <a:t>megoldások</a:t>
            </a:r>
            <a:r>
              <a:rPr dirty="0"/>
              <a:t> </a:t>
            </a:r>
            <a:r>
              <a:rPr dirty="0" err="1"/>
              <a:t>piaca</a:t>
            </a:r>
            <a:r>
              <a:rPr dirty="0"/>
              <a:t> 2028-ra 1 </a:t>
            </a:r>
            <a:r>
              <a:rPr dirty="0" err="1"/>
              <a:t>billió</a:t>
            </a:r>
            <a:r>
              <a:rPr dirty="0"/>
              <a:t> </a:t>
            </a:r>
            <a:r>
              <a:rPr dirty="0" err="1"/>
              <a:t>dollár</a:t>
            </a:r>
            <a:r>
              <a:rPr dirty="0"/>
              <a:t> </a:t>
            </a:r>
            <a:r>
              <a:rPr dirty="0" err="1"/>
              <a:t>felett</a:t>
            </a:r>
            <a:r>
              <a:rPr dirty="0"/>
              <a:t> </a:t>
            </a:r>
            <a:r>
              <a:rPr dirty="0" err="1"/>
              <a:t>várható</a:t>
            </a:r>
            <a:r>
              <a:rPr dirty="0"/>
              <a:t>.</a:t>
            </a:r>
          </a:p>
          <a:p>
            <a:r>
              <a:rPr b="1" dirty="0" err="1"/>
              <a:t>Egyediség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Egyedülálló</a:t>
            </a:r>
            <a:r>
              <a:rPr dirty="0"/>
              <a:t> AI </a:t>
            </a:r>
            <a:r>
              <a:rPr dirty="0" err="1"/>
              <a:t>algoritmusok</a:t>
            </a:r>
            <a:r>
              <a:rPr dirty="0"/>
              <a:t>, </a:t>
            </a:r>
            <a:r>
              <a:rPr dirty="0" err="1"/>
              <a:t>gyors</a:t>
            </a:r>
            <a:r>
              <a:rPr dirty="0"/>
              <a:t> </a:t>
            </a:r>
            <a:r>
              <a:rPr dirty="0" err="1"/>
              <a:t>adatfeldolgozás</a:t>
            </a:r>
            <a:r>
              <a:rPr dirty="0"/>
              <a:t>.</a:t>
            </a:r>
          </a:p>
        </p:txBody>
      </p:sp>
      <p:pic>
        <p:nvPicPr>
          <p:cNvPr id="1034" name="Picture 10" descr="How to Identify the Top Opportunities In Your Business | Inc.com">
            <a:extLst>
              <a:ext uri="{FF2B5EF4-FFF2-40B4-BE49-F238E27FC236}">
                <a16:creationId xmlns:a16="http://schemas.microsoft.com/office/drawing/2014/main" id="{FC5FD8B4-AEFB-6B19-BAD6-B126C4141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78" y="2890486"/>
            <a:ext cx="4569886" cy="296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Megoldásunk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0314" y="2592523"/>
            <a:ext cx="4676327" cy="3506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 err="1"/>
              <a:t>Hogyan</a:t>
            </a:r>
            <a:r>
              <a:rPr b="1" dirty="0"/>
              <a:t> </a:t>
            </a:r>
            <a:r>
              <a:rPr b="1" dirty="0" err="1"/>
              <a:t>működik</a:t>
            </a:r>
            <a:r>
              <a:rPr b="1" dirty="0"/>
              <a:t>?</a:t>
            </a:r>
          </a:p>
          <a:p>
            <a:pPr lvl="1"/>
            <a:r>
              <a:rPr dirty="0" err="1"/>
              <a:t>Szenzorok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kamerák</a:t>
            </a:r>
            <a:r>
              <a:rPr lang="hu-HU" dirty="0"/>
              <a:t> segítségével </a:t>
            </a:r>
            <a:r>
              <a:rPr dirty="0" err="1"/>
              <a:t>valós</a:t>
            </a:r>
            <a:r>
              <a:rPr dirty="0"/>
              <a:t> </a:t>
            </a:r>
            <a:r>
              <a:rPr dirty="0" err="1"/>
              <a:t>idejű</a:t>
            </a:r>
            <a:r>
              <a:rPr dirty="0"/>
              <a:t> </a:t>
            </a:r>
            <a:r>
              <a:rPr dirty="0" err="1"/>
              <a:t>adatokat</a:t>
            </a:r>
            <a:r>
              <a:rPr dirty="0"/>
              <a:t> </a:t>
            </a:r>
            <a:r>
              <a:rPr dirty="0" err="1"/>
              <a:t>gyűjtenek</a:t>
            </a:r>
            <a:r>
              <a:rPr dirty="0"/>
              <a:t>.</a:t>
            </a:r>
          </a:p>
          <a:p>
            <a:pPr lvl="1"/>
            <a:r>
              <a:rPr dirty="0"/>
              <a:t>Az AI </a:t>
            </a:r>
            <a:r>
              <a:rPr dirty="0" err="1"/>
              <a:t>feldolgozza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adatokat</a:t>
            </a:r>
            <a:r>
              <a:rPr dirty="0"/>
              <a:t>,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alkalmazás</a:t>
            </a:r>
            <a:r>
              <a:rPr dirty="0"/>
              <a:t> </a:t>
            </a:r>
            <a:r>
              <a:rPr dirty="0" err="1"/>
              <a:t>értesítéseket</a:t>
            </a:r>
            <a:r>
              <a:rPr dirty="0"/>
              <a:t> </a:t>
            </a:r>
            <a:r>
              <a:rPr dirty="0" err="1"/>
              <a:t>küld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b="1" dirty="0" err="1"/>
              <a:t>Felhasználói</a:t>
            </a:r>
            <a:r>
              <a:rPr b="1" dirty="0"/>
              <a:t> </a:t>
            </a:r>
            <a:r>
              <a:rPr b="1" dirty="0" err="1"/>
              <a:t>előnyök</a:t>
            </a:r>
            <a:r>
              <a:rPr b="1" dirty="0"/>
              <a:t>:</a:t>
            </a:r>
          </a:p>
          <a:p>
            <a:pPr lvl="1"/>
            <a:r>
              <a:rPr dirty="0" err="1"/>
              <a:t>Időmegtakarítás</a:t>
            </a:r>
            <a:endParaRPr dirty="0"/>
          </a:p>
          <a:p>
            <a:pPr lvl="1"/>
            <a:r>
              <a:rPr dirty="0" err="1"/>
              <a:t>Környezetbarát</a:t>
            </a:r>
            <a:r>
              <a:rPr dirty="0"/>
              <a:t> </a:t>
            </a:r>
            <a:r>
              <a:rPr dirty="0" err="1"/>
              <a:t>megközelítés</a:t>
            </a:r>
            <a:endParaRPr lang="hu-HU" dirty="0"/>
          </a:p>
          <a:p>
            <a:pPr lvl="1"/>
            <a:r>
              <a:rPr lang="hu-HU" b="0" i="0" dirty="0">
                <a:solidFill>
                  <a:srgbClr val="ECECEC"/>
                </a:solidFill>
                <a:effectLst/>
                <a:latin typeface="Segoe UI Variable Text" pitchFamily="2" charset="0"/>
              </a:rPr>
              <a:t>Csökkentett stressz.</a:t>
            </a:r>
          </a:p>
        </p:txBody>
      </p:sp>
      <p:pic>
        <p:nvPicPr>
          <p:cNvPr id="2050" name="Picture 2" descr="如何把握住机会？做到这5点，让你好运连连_灵活性_观察力_关系">
            <a:extLst>
              <a:ext uri="{FF2B5EF4-FFF2-40B4-BE49-F238E27FC236}">
                <a16:creationId xmlns:a16="http://schemas.microsoft.com/office/drawing/2014/main" id="{A5ACC52E-2637-768B-9798-5388CA2B5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7" y="2971183"/>
            <a:ext cx="4307110" cy="274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F59427-0CCD-EAF4-9759-3A9484B3E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Csapatunk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A2CA24-0A22-B3B2-682D-D7A8BAABE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39" y="2011680"/>
            <a:ext cx="7772400" cy="420624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Wang Zhibo</a:t>
            </a:r>
          </a:p>
          <a:p>
            <a:pPr lvl="1"/>
            <a:r>
              <a:rPr lang="en-US" dirty="0"/>
              <a:t>CEO</a:t>
            </a:r>
            <a:endParaRPr lang="hu-HU" dirty="0"/>
          </a:p>
          <a:p>
            <a:pPr marL="0" indent="0">
              <a:buNone/>
            </a:pPr>
            <a:r>
              <a:rPr lang="hu-HU" sz="2800" b="1" dirty="0"/>
              <a:t>Húsos Mihály</a:t>
            </a:r>
          </a:p>
          <a:p>
            <a:pPr lvl="1"/>
            <a:r>
              <a:rPr lang="hu-HU" dirty="0"/>
              <a:t>Technológia és AI fejlesztőnk</a:t>
            </a:r>
          </a:p>
          <a:p>
            <a:pPr marL="0" indent="0">
              <a:buNone/>
            </a:pPr>
            <a:r>
              <a:rPr lang="hu-HU" sz="2800" b="1" dirty="0"/>
              <a:t>Nagy Lajos</a:t>
            </a:r>
          </a:p>
          <a:p>
            <a:pPr lvl="1"/>
            <a:r>
              <a:rPr lang="hu-HU" dirty="0"/>
              <a:t>Ügyfélszolgálati Munkatársunk</a:t>
            </a:r>
          </a:p>
          <a:p>
            <a:pPr marL="0" indent="0">
              <a:buNone/>
            </a:pPr>
            <a:r>
              <a:rPr lang="hu-HU" sz="2800" b="1" dirty="0"/>
              <a:t>Kiss János</a:t>
            </a:r>
          </a:p>
          <a:p>
            <a:pPr lvl="1"/>
            <a:r>
              <a:rPr lang="hu-HU" dirty="0"/>
              <a:t>Marketing menedzser és közösségi média szakember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5319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DDD932-8E24-02EB-455F-54C67EA1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Versenytársak és Piaci Alkalmazkodás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6EE478-4E48-4E32-0425-ED360C3EF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486" y="2422584"/>
            <a:ext cx="5277745" cy="3489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b="1" dirty="0"/>
              <a:t>Hagyományos parkolási rendszerek:</a:t>
            </a:r>
          </a:p>
          <a:p>
            <a:pPr lvl="1"/>
            <a:r>
              <a:rPr lang="hu-HU" sz="1800" dirty="0"/>
              <a:t>Csak statikus adatokat biztosítanak (pl. térképek)</a:t>
            </a:r>
          </a:p>
          <a:p>
            <a:pPr lvl="1"/>
            <a:r>
              <a:rPr lang="hu-HU" sz="1800" dirty="0"/>
              <a:t>Korlátozott információk a parkolóhelyek elérhetőségéről.</a:t>
            </a:r>
          </a:p>
          <a:p>
            <a:pPr lvl="1"/>
            <a:r>
              <a:rPr lang="hu-HU" sz="1800" dirty="0"/>
              <a:t>Nem nyújtanak valós idejű megoldásokat, így a felhasználók sok időt töltenek a kereséssel.</a:t>
            </a:r>
          </a:p>
          <a:p>
            <a:pPr marL="0" indent="0">
              <a:buNone/>
            </a:pPr>
            <a:r>
              <a:rPr lang="hu-HU" sz="2400" b="1" dirty="0"/>
              <a:t>Piaci Alkalmazkodási Stratégiánk:</a:t>
            </a:r>
          </a:p>
          <a:p>
            <a:pPr lvl="1"/>
            <a:r>
              <a:rPr lang="hu-HU" sz="1800" dirty="0"/>
              <a:t>Partnerkapcsolatok kiépítése</a:t>
            </a:r>
          </a:p>
          <a:p>
            <a:pPr lvl="1"/>
            <a:r>
              <a:rPr lang="hu-HU" sz="1800" dirty="0"/>
              <a:t>Rugalmasság és skálázhatóság</a:t>
            </a:r>
          </a:p>
          <a:p>
            <a:pPr lvl="1"/>
            <a:r>
              <a:rPr lang="hu-HU" sz="1800" dirty="0"/>
              <a:t>Felhasználói visszajelzések integrálása</a:t>
            </a:r>
          </a:p>
        </p:txBody>
      </p:sp>
      <p:pic>
        <p:nvPicPr>
          <p:cNvPr id="3074" name="Picture 2" descr="1,800+ Debt Collection Stock Illustrations, Royalty-Free Vector ...">
            <a:extLst>
              <a:ext uri="{FF2B5EF4-FFF2-40B4-BE49-F238E27FC236}">
                <a16:creationId xmlns:a16="http://schemas.microsoft.com/office/drawing/2014/main" id="{AF1BEE1A-E47D-BC64-CF0F-190E50815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60" y="2422583"/>
            <a:ext cx="3489986" cy="3489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98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B231D7-28F2-878D-6E88-0B7315BB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Versenyelőnyök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262055-A7FE-EE39-A830-D9F21D931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628" y="2768836"/>
            <a:ext cx="4794562" cy="2818962"/>
          </a:xfrm>
        </p:spPr>
        <p:txBody>
          <a:bodyPr>
            <a:normAutofit fontScale="92500"/>
          </a:bodyPr>
          <a:lstStyle/>
          <a:p>
            <a:r>
              <a:rPr lang="hu-HU" sz="3000" b="1" dirty="0"/>
              <a:t>Valós idejű adatgyűjtés és feldolgozás</a:t>
            </a:r>
          </a:p>
          <a:p>
            <a:r>
              <a:rPr lang="hu-HU" sz="3000" b="1" dirty="0"/>
              <a:t>AI-alapú optimalizálás</a:t>
            </a:r>
          </a:p>
          <a:p>
            <a:r>
              <a:rPr lang="hu-HU" sz="3000" b="1" dirty="0"/>
              <a:t>Felhasználóbarát kialakítás</a:t>
            </a:r>
          </a:p>
          <a:p>
            <a:r>
              <a:rPr lang="hu-HU" sz="3000" b="1" dirty="0"/>
              <a:t>Skálázhatóság</a:t>
            </a:r>
          </a:p>
        </p:txBody>
      </p:sp>
      <p:pic>
        <p:nvPicPr>
          <p:cNvPr id="5122" name="Picture 2" descr="9 Benefits of Competitive Benchmarking">
            <a:extLst>
              <a:ext uri="{FF2B5EF4-FFF2-40B4-BE49-F238E27FC236}">
                <a16:creationId xmlns:a16="http://schemas.microsoft.com/office/drawing/2014/main" id="{BE91966E-F115-49E3-659C-0AC92F666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84" y="2863512"/>
            <a:ext cx="4148454" cy="262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5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E87DAA-AB8D-ACF3-D119-26D8D4FB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Bevételi </a:t>
            </a:r>
            <a:r>
              <a:rPr lang="hu-HU" b="1" dirty="0" err="1"/>
              <a:t>Model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6B06FC-F821-8F72-4E10-CB6CBE8F7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406" y="3418454"/>
            <a:ext cx="3924013" cy="1964196"/>
          </a:xfrm>
        </p:spPr>
        <p:txBody>
          <a:bodyPr>
            <a:normAutofit/>
          </a:bodyPr>
          <a:lstStyle/>
          <a:p>
            <a:r>
              <a:rPr lang="hu-HU" sz="2000" b="1" dirty="0">
                <a:solidFill>
                  <a:srgbClr val="ECECEC"/>
                </a:solidFill>
                <a:latin typeface="Segoe UI Variable Text" pitchFamily="2" charset="0"/>
              </a:rPr>
              <a:t>Felhasználói előfizetések</a:t>
            </a:r>
          </a:p>
          <a:p>
            <a:r>
              <a:rPr lang="hu-HU" sz="2000" b="1" dirty="0">
                <a:solidFill>
                  <a:srgbClr val="ECECEC"/>
                </a:solidFill>
                <a:latin typeface="Segoe UI Variable Text" pitchFamily="2" charset="0"/>
              </a:rPr>
              <a:t>Önkormányzati partnerségek</a:t>
            </a:r>
          </a:p>
          <a:p>
            <a:r>
              <a:rPr lang="hu-HU" sz="2000" b="1" dirty="0">
                <a:solidFill>
                  <a:srgbClr val="ECECEC"/>
                </a:solidFill>
                <a:latin typeface="Segoe UI Variable Text" pitchFamily="2" charset="0"/>
              </a:rPr>
              <a:t>Parkolási szolgáltatók díjai</a:t>
            </a:r>
          </a:p>
          <a:p>
            <a:r>
              <a:rPr lang="hu-HU" sz="2000" b="1" dirty="0">
                <a:solidFill>
                  <a:srgbClr val="ECECEC"/>
                </a:solidFill>
                <a:latin typeface="Segoe UI Variable Text" pitchFamily="2" charset="0"/>
              </a:rPr>
              <a:t>Hirdetési lehetőségek</a:t>
            </a:r>
          </a:p>
        </p:txBody>
      </p:sp>
      <p:pic>
        <p:nvPicPr>
          <p:cNvPr id="6146" name="Picture 2" descr="Active &amp; Passive Investment Management | David Denniston">
            <a:extLst>
              <a:ext uri="{FF2B5EF4-FFF2-40B4-BE49-F238E27FC236}">
                <a16:creationId xmlns:a16="http://schemas.microsoft.com/office/drawing/2014/main" id="{510A1A12-58F0-9803-C014-1B576BF14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68" y="3100868"/>
            <a:ext cx="3924013" cy="261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55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381605-5E50-988D-2F23-1A6F2EE0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Költségek és Stratégia</a:t>
            </a:r>
          </a:p>
        </p:txBody>
      </p:sp>
      <p:graphicFrame>
        <p:nvGraphicFramePr>
          <p:cNvPr id="6" name="Tartalom helye 5">
            <a:extLst>
              <a:ext uri="{FF2B5EF4-FFF2-40B4-BE49-F238E27FC236}">
                <a16:creationId xmlns:a16="http://schemas.microsoft.com/office/drawing/2014/main" id="{32FD5F3A-C210-966C-5188-FEB77A5F1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419294"/>
              </p:ext>
            </p:extLst>
          </p:nvPr>
        </p:nvGraphicFramePr>
        <p:xfrm>
          <a:off x="-627499" y="2124330"/>
          <a:ext cx="6101626" cy="4363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zövegdoboz 6">
            <a:extLst>
              <a:ext uri="{FF2B5EF4-FFF2-40B4-BE49-F238E27FC236}">
                <a16:creationId xmlns:a16="http://schemas.microsoft.com/office/drawing/2014/main" id="{86D3C3E4-B8E3-5E15-943A-5A05471CCD94}"/>
              </a:ext>
            </a:extLst>
          </p:cNvPr>
          <p:cNvSpPr txBox="1"/>
          <p:nvPr/>
        </p:nvSpPr>
        <p:spPr>
          <a:xfrm>
            <a:off x="4700875" y="3706131"/>
            <a:ext cx="4443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0" dirty="0">
                <a:solidFill>
                  <a:srgbClr val="ECECEC"/>
                </a:solidFill>
                <a:effectLst/>
                <a:latin typeface="Segoe UI Variable Text" pitchFamily="2" charset="0"/>
              </a:rPr>
              <a:t>Stratégiai lépések:</a:t>
            </a:r>
            <a:endParaRPr lang="en-US" b="1" i="0" dirty="0">
              <a:solidFill>
                <a:srgbClr val="ECECEC"/>
              </a:solidFill>
              <a:effectLst/>
              <a:latin typeface="Segoe UI Variable Tex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i="0" dirty="0">
                <a:solidFill>
                  <a:srgbClr val="ECECEC"/>
                </a:solidFill>
                <a:effectLst/>
                <a:latin typeface="Segoe UI Variable Text" pitchFamily="2" charset="0"/>
              </a:rPr>
              <a:t>Fókusz a felhasználói élményre</a:t>
            </a:r>
            <a:endParaRPr lang="en-US" b="1" i="0" dirty="0">
              <a:solidFill>
                <a:srgbClr val="ECECEC"/>
              </a:solidFill>
              <a:effectLst/>
              <a:latin typeface="Segoe UI Variable Tex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i="0" dirty="0">
                <a:solidFill>
                  <a:srgbClr val="ECECEC"/>
                </a:solidFill>
                <a:effectLst/>
                <a:latin typeface="Segoe UI Variable Text" pitchFamily="2" charset="0"/>
              </a:rPr>
              <a:t>Piaci terjeszkedés</a:t>
            </a:r>
            <a:endParaRPr lang="en-US" b="1" i="0" dirty="0">
              <a:solidFill>
                <a:srgbClr val="ECECEC"/>
              </a:solidFill>
              <a:effectLst/>
              <a:latin typeface="Segoe UI Variable Text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i="0" dirty="0">
                <a:solidFill>
                  <a:srgbClr val="ECECEC"/>
                </a:solidFill>
                <a:effectLst/>
                <a:latin typeface="Segoe UI Variable Text" pitchFamily="2" charset="0"/>
              </a:rPr>
              <a:t>Hosszú távú partnerségek</a:t>
            </a:r>
            <a:endParaRPr lang="en-US" b="1" i="0" dirty="0">
              <a:solidFill>
                <a:srgbClr val="ECECEC"/>
              </a:solidFill>
              <a:effectLst/>
              <a:latin typeface="Segoe UI Variable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73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C32395-2652-59D3-456E-8B37F60C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Pénzügyi Előrejelzések</a:t>
            </a:r>
          </a:p>
        </p:txBody>
      </p:sp>
      <p:graphicFrame>
        <p:nvGraphicFramePr>
          <p:cNvPr id="7" name="Tartalom helye 6">
            <a:extLst>
              <a:ext uri="{FF2B5EF4-FFF2-40B4-BE49-F238E27FC236}">
                <a16:creationId xmlns:a16="http://schemas.microsoft.com/office/drawing/2014/main" id="{24334EF0-09A8-EA79-D5F6-D9C287E39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769307"/>
              </p:ext>
            </p:extLst>
          </p:nvPr>
        </p:nvGraphicFramePr>
        <p:xfrm>
          <a:off x="685800" y="2011363"/>
          <a:ext cx="7772400" cy="420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1028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Kérdések</a:t>
            </a:r>
            <a:r>
              <a:rPr b="1" dirty="0"/>
              <a:t> </a:t>
            </a:r>
            <a:r>
              <a:rPr b="1" dirty="0" err="1"/>
              <a:t>és</a:t>
            </a:r>
            <a:r>
              <a:rPr b="1" dirty="0"/>
              <a:t> </a:t>
            </a:r>
            <a:r>
              <a:rPr b="1" dirty="0" err="1"/>
              <a:t>Kapcsolat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 err="1"/>
              <a:t>Kapcsolat</a:t>
            </a:r>
            <a:r>
              <a:rPr lang="hu-HU" b="1" dirty="0" err="1"/>
              <a:t>unk</a:t>
            </a:r>
            <a:r>
              <a:rPr b="1" dirty="0"/>
              <a:t>:</a:t>
            </a:r>
          </a:p>
          <a:p>
            <a:pPr lvl="1"/>
            <a:r>
              <a:rPr dirty="0"/>
              <a:t>E-mail: info@</a:t>
            </a:r>
            <a:r>
              <a:rPr lang="en-US" dirty="0"/>
              <a:t>parkeasy</a:t>
            </a:r>
            <a:r>
              <a:rPr dirty="0"/>
              <a:t>.hu</a:t>
            </a:r>
          </a:p>
          <a:p>
            <a:pPr lvl="1"/>
            <a:r>
              <a:rPr dirty="0" err="1"/>
              <a:t>Telefonszám</a:t>
            </a:r>
            <a:r>
              <a:rPr dirty="0"/>
              <a:t>: +</a:t>
            </a: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</a:rPr>
              <a:t>36 30 123 4567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 err="1"/>
              <a:t>Weboldal</a:t>
            </a:r>
            <a:r>
              <a:rPr dirty="0"/>
              <a:t>: www.</a:t>
            </a:r>
            <a:r>
              <a:rPr lang="en-US" dirty="0"/>
              <a:t>parkeasy</a:t>
            </a:r>
            <a:r>
              <a:rPr dirty="0"/>
              <a:t>.hu</a:t>
            </a:r>
          </a:p>
          <a:p>
            <a:endParaRPr dirty="0"/>
          </a:p>
          <a:p>
            <a:pPr marL="0" indent="0" algn="ctr">
              <a:buNone/>
            </a:pPr>
            <a:r>
              <a:rPr sz="4400" dirty="0" err="1"/>
              <a:t>Velünk</a:t>
            </a:r>
            <a:r>
              <a:rPr sz="4400" dirty="0"/>
              <a:t> </a:t>
            </a:r>
            <a:r>
              <a:rPr sz="4400" dirty="0" err="1"/>
              <a:t>könnyebb</a:t>
            </a:r>
            <a:r>
              <a:rPr sz="4400" dirty="0"/>
              <a:t> a </a:t>
            </a:r>
            <a:r>
              <a:rPr sz="4400" dirty="0" err="1"/>
              <a:t>parkolás</a:t>
            </a:r>
            <a:r>
              <a:rPr sz="4400" dirty="0"/>
              <a:t>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ávos">
  <a:themeElements>
    <a:clrScheme name="Sávo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Sávo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ávo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TM03090430[[fn=Sávos]]</Template>
  <TotalTime>803</TotalTime>
  <Words>295</Words>
  <Application>Microsoft Office PowerPoint</Application>
  <PresentationFormat>Diavetítés a képernyőre (4:3 oldalarány)</PresentationFormat>
  <Paragraphs>73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Corbel</vt:lpstr>
      <vt:lpstr>Segoe UI Variable Text</vt:lpstr>
      <vt:lpstr>Wingdings</vt:lpstr>
      <vt:lpstr>Sávos</vt:lpstr>
      <vt:lpstr>Parkeasy</vt:lpstr>
      <vt:lpstr>Bemutatkozás</vt:lpstr>
      <vt:lpstr>Piaci Probléma és Megoldás</vt:lpstr>
      <vt:lpstr>Piaci Lehetőség</vt:lpstr>
      <vt:lpstr>Megoldásunk</vt:lpstr>
      <vt:lpstr>Csapatunk</vt:lpstr>
      <vt:lpstr>Versenytársak és Piaci Alkalmazkodás</vt:lpstr>
      <vt:lpstr>Versenyelőnyök</vt:lpstr>
      <vt:lpstr>Bevételi Model</vt:lpstr>
      <vt:lpstr>Költségek és Stratégia</vt:lpstr>
      <vt:lpstr>Pénzügyi Előrejelzések</vt:lpstr>
      <vt:lpstr>Kérdések és Kapcsolat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Wang Zhibo</cp:lastModifiedBy>
  <cp:revision>10</cp:revision>
  <dcterms:created xsi:type="dcterms:W3CDTF">2013-01-27T09:14:16Z</dcterms:created>
  <dcterms:modified xsi:type="dcterms:W3CDTF">2024-12-09T13:04:26Z</dcterms:modified>
  <cp:category/>
</cp:coreProperties>
</file>